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1A5C3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-274320"/>
            <a:ext cx="1645920" cy="1645920"/>
          </a:xfrm>
          <a:prstGeom prst="ellipse">
            <a:avLst/>
          </a:prstGeom>
          <a:solidFill>
            <a:srgbClr val="E8A838">
              <a:alpha val="3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560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AUBE NOUVELLE  ·  ISIG  ·  Master MSI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100584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d'une Plateforme d'IA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l'Élevage Porcin de Précision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Burkina Faso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11480" y="3154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de l'élevage porcin · Backend Kotlin/Spring Boot · IA &amp; Règles Zootechniques Locales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3611880"/>
            <a:ext cx="548640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37947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 LOUAHIKBE SING-YABE Patrick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académique 2025–2026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4617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PLF  ·  IoT  ·  SAD  ·  WhatsApp  ·  ISSF  ·  Kotlin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566928" cy="566928"/>
          </a:xfrm>
          <a:prstGeom prst="ellipse">
            <a:avLst/>
          </a:prstGeom>
          <a:solidFill>
            <a:srgbClr val="1A5C3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43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1615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1430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Problématique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14447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Élevage porcin BF · Fracture numérique · Enjeux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1801368"/>
            <a:ext cx="8503920" cy="18288"/>
          </a:xfrm>
          <a:prstGeom prst="rect">
            <a:avLst/>
          </a:prstGeom>
          <a:solidFill>
            <a:srgbClr val="D1E8DA"/>
          </a:solidFill>
          <a:ln/>
        </p:spPr>
      </p:sp>
      <p:sp>
        <p:nvSpPr>
          <p:cNvPr id="10" name="Shape 7"/>
          <p:cNvSpPr/>
          <p:nvPr/>
        </p:nvSpPr>
        <p:spPr>
          <a:xfrm>
            <a:off x="320040" y="1911096"/>
            <a:ext cx="566928" cy="566928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8424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191109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État de l'Art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08760" y="22128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PLF · IoT · SAD · Concurrents africains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" y="2569464"/>
            <a:ext cx="8503920" cy="18288"/>
          </a:xfrm>
          <a:prstGeom prst="rect">
            <a:avLst/>
          </a:prstGeom>
          <a:solidFill>
            <a:srgbClr val="D1E8DA"/>
          </a:solidFill>
          <a:ln/>
        </p:spPr>
      </p:sp>
      <p:sp>
        <p:nvSpPr>
          <p:cNvPr id="16" name="Shape 12"/>
          <p:cNvSpPr/>
          <p:nvPr/>
        </p:nvSpPr>
        <p:spPr>
          <a:xfrm>
            <a:off x="320040" y="2679192"/>
            <a:ext cx="566928" cy="566928"/>
          </a:xfrm>
          <a:prstGeom prst="ellipse">
            <a:avLst/>
          </a:prstGeom>
          <a:solidFill>
            <a:srgbClr val="1A5C35"/>
          </a:solidFill>
          <a:ln/>
        </p:spPr>
      </p:sp>
      <p:sp>
        <p:nvSpPr>
          <p:cNvPr id="17" name="Text 13"/>
          <p:cNvSpPr/>
          <p:nvPr/>
        </p:nvSpPr>
        <p:spPr>
          <a:xfrm>
            <a:off x="32004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52344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26791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Conception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508760" y="29809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· Pipeline WhatsApp · Modules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20040" y="3337560"/>
            <a:ext cx="8503920" cy="18288"/>
          </a:xfrm>
          <a:prstGeom prst="rect">
            <a:avLst/>
          </a:prstGeom>
          <a:solidFill>
            <a:srgbClr val="D1E8DA"/>
          </a:solidFill>
          <a:ln/>
        </p:spPr>
      </p:sp>
      <p:sp>
        <p:nvSpPr>
          <p:cNvPr id="22" name="Shape 17"/>
          <p:cNvSpPr/>
          <p:nvPr/>
        </p:nvSpPr>
        <p:spPr>
          <a:xfrm>
            <a:off x="320040" y="3447288"/>
            <a:ext cx="566928" cy="566928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3" name="Text 18"/>
          <p:cNvSpPr/>
          <p:nvPr/>
        </p:nvSpPr>
        <p:spPr>
          <a:xfrm>
            <a:off x="320040" y="3447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2044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34472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Implémentation &amp; Résultats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508760" y="3749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endpoints · Tests · Règles zootechniques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20040" y="4105656"/>
            <a:ext cx="8503920" cy="18288"/>
          </a:xfrm>
          <a:prstGeom prst="rect">
            <a:avLst/>
          </a:prstGeom>
          <a:solidFill>
            <a:srgbClr val="D1E8DA"/>
          </a:solidFill>
          <a:ln/>
        </p:spPr>
      </p:sp>
      <p:sp>
        <p:nvSpPr>
          <p:cNvPr id="28" name="Shape 22"/>
          <p:cNvSpPr/>
          <p:nvPr/>
        </p:nvSpPr>
        <p:spPr>
          <a:xfrm>
            <a:off x="320040" y="4215384"/>
            <a:ext cx="566928" cy="566928"/>
          </a:xfrm>
          <a:prstGeom prst="ellipse">
            <a:avLst/>
          </a:prstGeom>
          <a:solidFill>
            <a:srgbClr val="1A5C35"/>
          </a:solidFill>
          <a:ln/>
        </p:spPr>
      </p:sp>
      <p:sp>
        <p:nvSpPr>
          <p:cNvPr id="29" name="Text 23"/>
          <p:cNvSpPr/>
          <p:nvPr/>
        </p:nvSpPr>
        <p:spPr>
          <a:xfrm>
            <a:off x="320040" y="4215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88536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08760" y="42153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&amp; Perspectives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508760" y="45171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ML · IoT terrain · Étude d'adoption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: L'Élevage Porcin au Burkina Faso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1371600"/>
          </a:xfrm>
          <a:prstGeom prst="rect">
            <a:avLst/>
          </a:prstGeom>
          <a:solidFill>
            <a:srgbClr val="1A5C3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430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2,08 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269748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têtes de porcs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(FAO, 2012)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97480" cy="137160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1430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×3,6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46120" y="1874520"/>
            <a:ext cx="269748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du cheptel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 entre 1996–2008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097280"/>
            <a:ext cx="2697480" cy="1371600"/>
          </a:xfrm>
          <a:prstGeom prst="rect">
            <a:avLst/>
          </a:prstGeom>
          <a:solidFill>
            <a:srgbClr val="E8A83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11430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72200" y="1874520"/>
            <a:ext cx="269748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hausse mondiale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protéines 2033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33472"/>
            <a:ext cx="4114800" cy="347472"/>
          </a:xfrm>
          <a:prstGeom prst="rect">
            <a:avLst/>
          </a:prstGeom>
          <a:solidFill>
            <a:srgbClr val="1A5C35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6334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Défis du secteur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017520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Volatilité des prix porcins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401568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PPA (Peste Porcine Africaine)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3785616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Petites exploitations familiales sans outils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169664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traçabilité individuelle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633472"/>
            <a:ext cx="4114800" cy="3474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26334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Fracture numérique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017520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~100 % de pénétration mobile en rural BF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3401568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14–18 % ont smartphones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785616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= canal agricole informel #1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4169664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plateforme PLF porcine existante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 &amp; Objectifs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1097280"/>
          </a:xfrm>
          <a:prstGeom prst="rect">
            <a:avLst/>
          </a:prstGeom>
          <a:solidFill>
            <a:srgbClr val="E8A838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97280"/>
            <a:ext cx="749808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concevoir et implémenter une plateforme numérique intelligente, adaptée aux contraintes du milieu rural burkinabè, permettant à un éleveur de porcs de gérer son exploitation avec précision à partir d'outils aussi simples que WhatsApp ?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20040" y="2286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Spécifiques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" y="2788920"/>
            <a:ext cx="320040" cy="320040"/>
          </a:xfrm>
          <a:prstGeom prst="ellipse">
            <a:avLst/>
          </a:prstGeom>
          <a:solidFill>
            <a:srgbClr val="1A5C3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2798064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74320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l'élevage porcin BF et les outils numériques disponibles en Afrique de l'Ouest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3264408"/>
            <a:ext cx="320040" cy="320040"/>
          </a:xfrm>
          <a:prstGeom prst="ellipse">
            <a:avLst/>
          </a:prstGeom>
          <a:solidFill>
            <a:srgbClr val="2D7A4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273552"/>
            <a:ext cx="283464" cy="2834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321868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architecture modulaire : gestion animale, alimentation, reproduction, santé, finances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20040" y="3739896"/>
            <a:ext cx="320040" cy="320040"/>
          </a:xfrm>
          <a:prstGeom prst="ellipse">
            <a:avLst/>
          </a:prstGeom>
          <a:solidFill>
            <a:srgbClr val="1A5C3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3749040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7240" y="369417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un backend REST sécurisé (Kotlin/Spring Boot) avec règles zootechniques locales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20040" y="4215384"/>
            <a:ext cx="320040" cy="320040"/>
          </a:xfrm>
          <a:prstGeom prst="ellipse">
            <a:avLst/>
          </a:prstGeom>
          <a:solidFill>
            <a:srgbClr val="2D7A4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4224528"/>
            <a:ext cx="283464" cy="28346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7240" y="416966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un SAD pour les alertes sanitaires et reproductives (ISSF, mise-bas, top consommateurs)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320040" y="4690872"/>
            <a:ext cx="320040" cy="320040"/>
          </a:xfrm>
          <a:prstGeom prst="ellipse">
            <a:avLst/>
          </a:prstGeom>
          <a:solidFill>
            <a:srgbClr val="1A5C35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4700016"/>
            <a:ext cx="283464" cy="28346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77240" y="464515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pipeline WhatsApp adapté aux outils maîtrisés par les éleveurs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État de l'Art &amp; Positionnement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PLF (Bernabucci et al., 2025 · EPRS, 2025)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17904"/>
            <a:ext cx="320040" cy="320040"/>
          </a:xfrm>
          <a:prstGeom prst="ellipse">
            <a:avLst/>
          </a:prstGeom>
          <a:solidFill>
            <a:srgbClr val="2D7A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52704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46304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de poids &amp; température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993392"/>
            <a:ext cx="320040" cy="320040"/>
          </a:xfrm>
          <a:prstGeom prst="ellipse">
            <a:avLst/>
          </a:prstGeom>
          <a:solidFill>
            <a:srgbClr val="2D7A4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2002536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193852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acoustique (détresse, oestrus)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2468880"/>
            <a:ext cx="320040" cy="320040"/>
          </a:xfrm>
          <a:prstGeom prst="ellipse">
            <a:avLst/>
          </a:prstGeom>
          <a:solidFill>
            <a:srgbClr val="2D7A4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2478024"/>
            <a:ext cx="283464" cy="2834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241401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ML sur séries longitudinales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20040" y="2944368"/>
            <a:ext cx="320040" cy="320040"/>
          </a:xfrm>
          <a:prstGeom prst="ellipse">
            <a:avLst/>
          </a:prstGeom>
          <a:solidFill>
            <a:srgbClr val="2D7A4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2953512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7240" y="288950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mobiles adaptées au terrain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75488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Concurrents Africains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4114800" cy="3566160"/>
        </p:xfrm>
        <a:graphic>
          <a:graphicData uri="http://schemas.openxmlformats.org/drawingml/2006/table">
            <a:tbl>
              <a:tblPr/>
              <a:tblGrid>
                <a:gridCol w="1234440"/>
                <a:gridCol w="822960"/>
                <a:gridCol w="822960"/>
                <a:gridCol w="1234440"/>
              </a:tblGrid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AgriData IA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AgriHubX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Notre Plateforme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Spécialisation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Prix agricoles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Cultures (CNN)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Élevage porcin ✓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Filière animale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✓ Porcs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Suivi individuel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✓ Profil/animal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Rations locales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✓ DGPA/ONG Thamani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Pipeline WhatsApp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✓ Zapwize/FastAPI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Réseau dégradé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Non spécifié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App mobile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✓ Mobile-first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Globale de la Plateforme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solidFill>
            <a:srgbClr val="2D7A4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886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COUCHE COLLECTE — WhatsApp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" y="1234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Éleveur → WhatsApp → Zapwize Webhook → FastAPI → Whisper (audio→texte) → Gemini (extraction entités) → PostgreSQL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1847088"/>
            <a:ext cx="8412480" cy="822960"/>
          </a:xfrm>
          <a:prstGeom prst="rect">
            <a:avLst/>
          </a:prstGeom>
          <a:solidFill>
            <a:srgbClr val="1A5C35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852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8653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REST — Kotlin / Spring Boot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97280" y="22128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Controllers · Spring Security JWT · Services Métier · Spring Data JPA · Logique zootechnique locale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65760" y="2825496"/>
            <a:ext cx="8412480" cy="822960"/>
          </a:xfrm>
          <a:prstGeom prst="rect">
            <a:avLst/>
          </a:prstGeom>
          <a:solidFill>
            <a:srgbClr val="143D2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16936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84378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DONNÉES — MariaDB / PostgreSQL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097280" y="319125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: Animal · Alimentation · Reproduction · SoinAnimal · Vente · Dépense · Bâtiment · Utilisateur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65760" y="3803904"/>
            <a:ext cx="8412480" cy="822960"/>
          </a:xfrm>
          <a:prstGeom prst="rect">
            <a:avLst/>
          </a:prstGeom>
          <a:solidFill>
            <a:srgbClr val="E8A838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895344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8221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— Interface Mobile-First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097280" y="41696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· CORS configuré · Payloads légers pour réseaux dégradés · WebSocket (alertes temps réel)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297680" y="1764792"/>
            <a:ext cx="54864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Shape 15"/>
          <p:cNvSpPr/>
          <p:nvPr/>
        </p:nvSpPr>
        <p:spPr>
          <a:xfrm>
            <a:off x="4297680" y="2743200"/>
            <a:ext cx="54864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Shape 16"/>
          <p:cNvSpPr/>
          <p:nvPr/>
        </p:nvSpPr>
        <p:spPr>
          <a:xfrm>
            <a:off x="4297680" y="3721608"/>
            <a:ext cx="548640" cy="73152"/>
          </a:xfrm>
          <a:prstGeom prst="rect">
            <a:avLst/>
          </a:prstGeom>
          <a:solidFill>
            <a:srgbClr val="E8A83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Fonctionnels du Backend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2743200" cy="502920"/>
          </a:xfrm>
          <a:prstGeom prst="rect">
            <a:avLst/>
          </a:prstGeom>
          <a:solidFill>
            <a:srgbClr val="1A5C3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Animale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9768" y="1682496"/>
            <a:ext cx="2523744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animaux · photo · code unique · liaison tous modules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11556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115568"/>
            <a:ext cx="2743200" cy="502920"/>
          </a:xfrm>
          <a:prstGeom prst="rect">
            <a:avLst/>
          </a:prstGeom>
          <a:solidFill>
            <a:srgbClr val="2D7A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887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6472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Alimentation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55848" y="1682496"/>
            <a:ext cx="2523744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 de référence par stade · calcul coût · règle 100 FCFA/kg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72200" y="111556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1115568"/>
            <a:ext cx="2743200" cy="50292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02552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81928" y="1682496"/>
            <a:ext cx="2523744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Saillies · mises-bas · alertes · ISSF · carrière truie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0040" y="303580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035808"/>
            <a:ext cx="2743200" cy="50292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10896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0392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Santé &amp; SAD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29768" y="3602736"/>
            <a:ext cx="2523744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consommateurs · bilan individuel · ISSF moyen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303580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46120" y="3035808"/>
            <a:ext cx="2743200" cy="502920"/>
          </a:xfrm>
          <a:prstGeom prst="rect">
            <a:avLst/>
          </a:prstGeom>
          <a:solidFill>
            <a:srgbClr val="1A6B8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10896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76472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Vente &amp; Facturation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355848" y="3602736"/>
            <a:ext cx="2523744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· factures PDF iText7 · stats commerciales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72200" y="303580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72200" y="3035808"/>
            <a:ext cx="2743200" cy="502920"/>
          </a:xfrm>
          <a:prstGeom prst="rect">
            <a:avLst/>
          </a:prstGeom>
          <a:solidFill>
            <a:srgbClr val="5B2C8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10896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02552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Financière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281928" y="3602736"/>
            <a:ext cx="2523744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agrégé · filtre par période · résultat 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&amp; Règles Zootechniques Locales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4023360" cy="457200"/>
          </a:xfrm>
          <a:prstGeom prst="rect">
            <a:avLst/>
          </a:prstGeom>
          <a:solidFill>
            <a:srgbClr val="1A5C3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1155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d'Aide à la Décision (SAD)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581912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consommateurs de soins (coût, fréquence)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0040" y="1911096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sanitaire individuel sur période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040" y="2240280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ISSF moyen · seuil alerte &gt; 7 jours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0040" y="2569464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mise-bas imminente (date saillie + 114j)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00600" y="107899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078992"/>
            <a:ext cx="4023360" cy="45720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1430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21808" y="11155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Zootechniques Burkinabè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00600" y="1581912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DGPA/MRAH 2021 : rations officielles par stade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00600" y="1911096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 Thamani : règle 100 FCFA/kg  (1/6 × 600)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800600" y="2240280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Stades couverts : Porcelet, Croissance, Finition,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Truie gestante, Truie allaitante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00600" y="2569464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 locales vs. européennes → meilleure adoption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20040" y="3063240"/>
            <a:ext cx="8503920" cy="914400"/>
          </a:xfrm>
          <a:prstGeom prst="rect">
            <a:avLst/>
          </a:prstGeom>
          <a:solidFill>
            <a:srgbClr val="143D2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72968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3081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granulaire Spring Security + JWT (jjwt 0.11.5)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97280" y="34472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Autorités fines : ALIMENTATION_READ · REPRODUCTION_ALERTES · SYNTHESE_READ · … — Profils Éleveur / Vétérinaire / Admin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20040" y="4096512"/>
            <a:ext cx="8503920" cy="685800"/>
          </a:xfrm>
          <a:prstGeom prst="rect">
            <a:avLst/>
          </a:prstGeom>
          <a:solidFill>
            <a:srgbClr val="EAF4EE"/>
          </a:solidFill>
          <a:ln/>
        </p:spPr>
      </p:sp>
      <p:sp>
        <p:nvSpPr>
          <p:cNvPr id="25" name="Text 20"/>
          <p:cNvSpPr/>
          <p:nvPr/>
        </p:nvSpPr>
        <p:spPr>
          <a:xfrm>
            <a:off x="457200" y="4133088"/>
            <a:ext cx="8229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Approche par règles (vs. boîte noire ML) : l'éleveur et le vétérinaire comprennent POURQUOI un animal est signalé → confiance et adoption.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0972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Collecte via WhatsApp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28600" y="1188720"/>
            <a:ext cx="1554480" cy="192024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078992"/>
            <a:ext cx="384048" cy="384048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1764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Éleveur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274320" y="2148840"/>
            <a:ext cx="1463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un message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(texte ou audio)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1801368" y="2084832"/>
            <a:ext cx="155448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Shape 8"/>
          <p:cNvSpPr/>
          <p:nvPr/>
        </p:nvSpPr>
        <p:spPr>
          <a:xfrm>
            <a:off x="1938528" y="2020824"/>
            <a:ext cx="45720" cy="20116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Shape 9"/>
          <p:cNvSpPr/>
          <p:nvPr/>
        </p:nvSpPr>
        <p:spPr>
          <a:xfrm>
            <a:off x="1984248" y="1188720"/>
            <a:ext cx="1554480" cy="1920240"/>
          </a:xfrm>
          <a:prstGeom prst="rect">
            <a:avLst/>
          </a:prstGeom>
          <a:solidFill>
            <a:srgbClr val="1A5C3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578608" y="1078992"/>
            <a:ext cx="384048" cy="384048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5" name="Text 11"/>
          <p:cNvSpPr/>
          <p:nvPr/>
        </p:nvSpPr>
        <p:spPr>
          <a:xfrm>
            <a:off x="2578608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888" y="1280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29968" y="1764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Zapwize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2029968" y="2148840"/>
            <a:ext cx="1463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intercepte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message entrant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557016" y="2084832"/>
            <a:ext cx="155448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0" name="Shape 15"/>
          <p:cNvSpPr/>
          <p:nvPr/>
        </p:nvSpPr>
        <p:spPr>
          <a:xfrm>
            <a:off x="3694176" y="2020824"/>
            <a:ext cx="45720" cy="20116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Shape 16"/>
          <p:cNvSpPr/>
          <p:nvPr/>
        </p:nvSpPr>
        <p:spPr>
          <a:xfrm>
            <a:off x="3739896" y="1188720"/>
            <a:ext cx="1554480" cy="1920240"/>
          </a:xfrm>
          <a:prstGeom prst="rect">
            <a:avLst/>
          </a:prstGeom>
          <a:solidFill>
            <a:srgbClr val="1A6B8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334256" y="1078992"/>
            <a:ext cx="384048" cy="384048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3" name="Text 18"/>
          <p:cNvSpPr/>
          <p:nvPr/>
        </p:nvSpPr>
        <p:spPr>
          <a:xfrm>
            <a:off x="4334256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128016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785616" y="1764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785616" y="2148840"/>
            <a:ext cx="1463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Python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orchestration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5312664" y="2084832"/>
            <a:ext cx="155448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8" name="Shape 22"/>
          <p:cNvSpPr/>
          <p:nvPr/>
        </p:nvSpPr>
        <p:spPr>
          <a:xfrm>
            <a:off x="5449824" y="2020824"/>
            <a:ext cx="45720" cy="20116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9" name="Shape 23"/>
          <p:cNvSpPr/>
          <p:nvPr/>
        </p:nvSpPr>
        <p:spPr>
          <a:xfrm>
            <a:off x="5495544" y="1188720"/>
            <a:ext cx="1554480" cy="1920240"/>
          </a:xfrm>
          <a:prstGeom prst="rect">
            <a:avLst/>
          </a:prstGeom>
          <a:solidFill>
            <a:srgbClr val="0D2B1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089904" y="1078992"/>
            <a:ext cx="384048" cy="384048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31" name="Text 25"/>
          <p:cNvSpPr/>
          <p:nvPr/>
        </p:nvSpPr>
        <p:spPr>
          <a:xfrm>
            <a:off x="6089904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1280160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541264" y="1764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Whisper + Gemini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5541264" y="2148840"/>
            <a:ext cx="1463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Audio→Texte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Extraction entités NLP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7068312" y="2084832"/>
            <a:ext cx="155448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6" name="Shape 29"/>
          <p:cNvSpPr/>
          <p:nvPr/>
        </p:nvSpPr>
        <p:spPr>
          <a:xfrm>
            <a:off x="7205472" y="2020824"/>
            <a:ext cx="45720" cy="20116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7" name="Shape 30"/>
          <p:cNvSpPr/>
          <p:nvPr/>
        </p:nvSpPr>
        <p:spPr>
          <a:xfrm>
            <a:off x="7251192" y="1188720"/>
            <a:ext cx="1554480" cy="1920240"/>
          </a:xfrm>
          <a:prstGeom prst="rect">
            <a:avLst/>
          </a:prstGeom>
          <a:solidFill>
            <a:srgbClr val="E8A83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7845552" y="1078992"/>
            <a:ext cx="384048" cy="384048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39" name="Text 32"/>
          <p:cNvSpPr/>
          <p:nvPr/>
        </p:nvSpPr>
        <p:spPr>
          <a:xfrm>
            <a:off x="7845552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832" y="1280160"/>
            <a:ext cx="457200" cy="4572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296912" y="1764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7296912" y="2148840"/>
            <a:ext cx="1463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structuré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terrain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320040" y="3337560"/>
            <a:ext cx="8503920" cy="713232"/>
          </a:xfrm>
          <a:prstGeom prst="rect">
            <a:avLst/>
          </a:prstGeom>
          <a:solidFill>
            <a:srgbClr val="EAF4E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429000"/>
            <a:ext cx="411480" cy="4114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005840" y="3374136"/>
            <a:ext cx="768096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installation requise · WhatsApp est déjà présent sur ~100 % des téléphones ruraux · Données collectées sans smartphone ni application native · Innovation centrale du projet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320040" y="4187952"/>
            <a:ext cx="8503920" cy="621792"/>
          </a:xfrm>
          <a:prstGeom prst="rect">
            <a:avLst/>
          </a:prstGeom>
          <a:solidFill>
            <a:srgbClr val="E8A838">
              <a:alpha val="70000"/>
            </a:srgbClr>
          </a:solidFill>
          <a:ln/>
        </p:spPr>
      </p:sp>
      <p:sp>
        <p:nvSpPr>
          <p:cNvPr id="47" name="Text 38"/>
          <p:cNvSpPr/>
          <p:nvPr/>
        </p:nvSpPr>
        <p:spPr>
          <a:xfrm>
            <a:off x="457200" y="4224528"/>
            <a:ext cx="8229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Perspective v2 : modèle de prévision des prix porcins (XGBoost/Random Forest) entraîné sur les données collectées + indices satellite NDVI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&amp; Validation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1143000"/>
          </a:xfrm>
          <a:prstGeom prst="rect">
            <a:avLst/>
          </a:prstGeom>
          <a:solidFill>
            <a:srgbClr val="1A5C3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1556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1755648"/>
            <a:ext cx="26974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REST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implémentés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97480" cy="114300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11556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46120" y="1755648"/>
            <a:ext cx="26974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validées Postman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097280"/>
            <a:ext cx="2697480" cy="1143000"/>
          </a:xfrm>
          <a:prstGeom prst="rect">
            <a:avLst/>
          </a:prstGeom>
          <a:solidFill>
            <a:srgbClr val="E8A83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111556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72200" y="1755648"/>
            <a:ext cx="26974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100 FCFA/kg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vérifiée terrain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95728"/>
          <a:ext cx="8503920" cy="2560320"/>
        </p:xfrm>
        <a:graphic>
          <a:graphicData uri="http://schemas.openxmlformats.org/drawingml/2006/table">
            <a:tbl>
              <a:tblPr/>
              <a:tblGrid>
                <a:gridCol w="6766560"/>
                <a:gridCol w="1737360"/>
              </a:tblGrid>
              <a:tr h="232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Fonctionnalité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État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5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Gestion individuelle animaux (CRUD + photo)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C35"/>
                          </a:solidFill>
                        </a:rPr>
                        <a:t>✓ Implémenté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Ration de référence par stade physiologique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C35"/>
                          </a:solidFill>
                        </a:rPr>
                        <a:t>✓ Implémenté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Calcul coût ration · règle 100 FCFA/kg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C35"/>
                          </a:solidFill>
                        </a:rPr>
                        <a:t>✓ Implémenté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Alertes mise-bas imminente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C35"/>
                          </a:solidFill>
                        </a:rPr>
                        <a:t>✓ Implémenté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ISSF moyen · seuil &gt; 7 jours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C35"/>
                          </a:solidFill>
                        </a:rPr>
                        <a:t>✓ Implémenté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Top consommateurs soins (SAD)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C35"/>
                          </a:solidFill>
                        </a:rPr>
                        <a:t>✓ Implémenté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Génération factures PDF (iText7)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C35"/>
                          </a:solidFill>
                        </a:rPr>
                        <a:t>✓ Implémenté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Synthèse financière avec filtre période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C35"/>
                          </a:solidFill>
                        </a:rPr>
                        <a:t>✓ Implémenté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Pipeline collecte WhatsApp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07D00"/>
                          </a:solidFill>
                        </a:rPr>
                        <a:t>⏳ En cours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Prévision des prix (ML)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</a:rPr>
                        <a:t>🔮 Perspective v2</a:t>
                      </a:r>
                      <a:endParaRPr lang="en-US" sz="8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&amp; Perspectives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023360" cy="475488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4300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1155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actuelles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1591056"/>
            <a:ext cx="4023360" cy="713232"/>
          </a:xfrm>
          <a:prstGeom prst="rect">
            <a:avLst/>
          </a:prstGeom>
          <a:solidFill>
            <a:srgbClr val="FDF0E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1480" y="1627632"/>
            <a:ext cx="3840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historique de prix porcins burkinabè encore insuffisante pour entraîner un modèle ML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" y="239572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11480" y="2432304"/>
            <a:ext cx="3840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IoT physiques non encore intégrés (API REST prête, déploiement terrain manquant)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3200400"/>
            <a:ext cx="4023360" cy="713232"/>
          </a:xfrm>
          <a:prstGeom prst="rect">
            <a:avLst/>
          </a:prstGeom>
          <a:solidFill>
            <a:srgbClr val="FDF0E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1480" y="3236976"/>
            <a:ext cx="3840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terrain avec panel d'éleveurs burkinabè non encore conduite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" y="400507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11480" y="4041648"/>
            <a:ext cx="3840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WhatsApp encore en cours de finalisation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00600" y="1078992"/>
            <a:ext cx="4023360" cy="475488"/>
          </a:xfrm>
          <a:prstGeom prst="rect">
            <a:avLst/>
          </a:prstGeom>
          <a:solidFill>
            <a:srgbClr val="2D7A4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14300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11155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v2 &amp; v3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800600" y="1591056"/>
            <a:ext cx="4023360" cy="713232"/>
          </a:xfrm>
          <a:prstGeom prst="rect">
            <a:avLst/>
          </a:prstGeom>
          <a:solidFill>
            <a:srgbClr val="EAF4E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892040" y="1627632"/>
            <a:ext cx="3840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 de prévision des prix porcins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(XGBoost/RF + indices NDVI/pluviométrie satellite)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800600" y="239572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4892040" y="2432304"/>
            <a:ext cx="3840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capteurs IoT (température, poids,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ambiance bâtiment) via API REST déjà prête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800600" y="3200400"/>
            <a:ext cx="4023360" cy="713232"/>
          </a:xfrm>
          <a:prstGeom prst="rect">
            <a:avLst/>
          </a:prstGeom>
          <a:solidFill>
            <a:srgbClr val="EAF4E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4892040" y="3236976"/>
            <a:ext cx="3840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d'adoption terrain avec panel d'éleveurs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(facilité d'usage, impact sur les pratiques)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800600" y="400507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892040" y="4041648"/>
            <a:ext cx="3840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pour détection PPA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(Peste Porcine Africaine) sur images terrain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1A5C35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E8A83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502920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051560"/>
            <a:ext cx="411480" cy="411480"/>
          </a:xfrm>
          <a:prstGeom prst="ellipse">
            <a:avLst/>
          </a:prstGeom>
          <a:solidFill>
            <a:srgbClr val="2D7A4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6984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9601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plateforme PLF entièrement dédiée à l'élevage porcin en Afrique de l'Ouest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1801368"/>
            <a:ext cx="411480" cy="411480"/>
          </a:xfrm>
          <a:prstGeom prst="ellipse">
            <a:avLst/>
          </a:prstGeom>
          <a:solidFill>
            <a:srgbClr val="2D7A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81965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170992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zootechniques sourcées localement (DGPA/MRAH, ONG Thamani) — normes burkinabè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11480" y="2551176"/>
            <a:ext cx="411480" cy="411480"/>
          </a:xfrm>
          <a:prstGeom prst="ellipse">
            <a:avLst/>
          </a:prstGeom>
          <a:solidFill>
            <a:srgbClr val="2D7A4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56946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245973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WhatsApp : collecte de données sans smartphone ni appli native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11480" y="3300984"/>
            <a:ext cx="411480" cy="411480"/>
          </a:xfrm>
          <a:prstGeom prst="ellipse">
            <a:avLst/>
          </a:prstGeom>
          <a:solidFill>
            <a:srgbClr val="2D7A4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319272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320954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 transparent par règles : ISSF, alertes mise-bas, top consommateurs de soins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11480" y="4050792"/>
            <a:ext cx="411480" cy="411480"/>
          </a:xfrm>
          <a:prstGeom prst="ellipse">
            <a:avLst/>
          </a:prstGeom>
          <a:solidFill>
            <a:srgbClr val="2D7A4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069080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0120" y="395935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 cohérente : ML prix, IoT terrain, vision PPA — ancrage africain maintenu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solidFill>
            <a:srgbClr val="E8A838">
              <a:alpha val="75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  —  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IA Élevage Porcin — Soutenance Master 2026</dc:title>
  <dc:subject>PptxGenJS Presentation</dc:subject>
  <dc:creator>LOUAHIKBE SING-YABE Patrick</dc:creator>
  <cp:lastModifiedBy>LOUAHIKBE SING-YABE Patrick</cp:lastModifiedBy>
  <cp:revision>1</cp:revision>
  <dcterms:created xsi:type="dcterms:W3CDTF">2026-06-10T11:32:42Z</dcterms:created>
  <dcterms:modified xsi:type="dcterms:W3CDTF">2026-06-10T11:32:42Z</dcterms:modified>
</cp:coreProperties>
</file>